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</p:sldIdLst>
  <p:sldSz cx="18288000" cy="10287000"/>
  <p:notesSz cx="6858000" cy="9144000"/>
  <p:embeddedFontLst>
    <p:embeddedFont>
      <p:font typeface="Inter" panose="020B0604020202020204" charset="0"/>
      <p:regular r:id="rId12"/>
    </p:embeddedFont>
    <p:embeddedFont>
      <p:font typeface="Inter Bold" panose="020B0604020202020204" charset="0"/>
      <p:regular r:id="rId13"/>
    </p:embeddedFont>
    <p:embeddedFont>
      <p:font typeface="Mont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1028700" y="833180"/>
            <a:ext cx="642328" cy="590942"/>
          </a:xfrm>
          <a:custGeom>
            <a:avLst/>
            <a:gdLst/>
            <a:ahLst/>
            <a:cxnLst/>
            <a:rect l="l" t="t" r="r" b="b"/>
            <a:pathLst>
              <a:path w="642328" h="590942">
                <a:moveTo>
                  <a:pt x="0" y="0"/>
                </a:moveTo>
                <a:lnTo>
                  <a:pt x="642328" y="0"/>
                </a:lnTo>
                <a:lnTo>
                  <a:pt x="642328" y="590942"/>
                </a:lnTo>
                <a:lnTo>
                  <a:pt x="0" y="590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TextBox 4"/>
          <p:cNvSpPr txBox="1"/>
          <p:nvPr/>
        </p:nvSpPr>
        <p:spPr>
          <a:xfrm>
            <a:off x="1028701" y="2420462"/>
            <a:ext cx="16368152" cy="2493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047"/>
              </a:lnSpc>
            </a:pPr>
            <a:r>
              <a:rPr lang="en-US" sz="17315" b="1" dirty="0" err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AgroIA</a:t>
            </a:r>
            <a:r>
              <a:rPr lang="en-US" sz="17315" b="1" dirty="0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-Nariño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399578" y="-1176161"/>
            <a:ext cx="1143885" cy="2401845"/>
            <a:chOff x="0" y="0"/>
            <a:chExt cx="301270" cy="6325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1270" cy="632585"/>
            </a:xfrm>
            <a:custGeom>
              <a:avLst/>
              <a:gdLst/>
              <a:ahLst/>
              <a:cxnLst/>
              <a:rect l="l" t="t" r="r" b="b"/>
              <a:pathLst>
                <a:path w="301270" h="632585">
                  <a:moveTo>
                    <a:pt x="150635" y="0"/>
                  </a:moveTo>
                  <a:lnTo>
                    <a:pt x="150635" y="0"/>
                  </a:lnTo>
                  <a:cubicBezTo>
                    <a:pt x="190586" y="0"/>
                    <a:pt x="228901" y="15870"/>
                    <a:pt x="257150" y="44120"/>
                  </a:cubicBezTo>
                  <a:cubicBezTo>
                    <a:pt x="285400" y="72370"/>
                    <a:pt x="301270" y="110684"/>
                    <a:pt x="301270" y="150635"/>
                  </a:cubicBezTo>
                  <a:lnTo>
                    <a:pt x="301270" y="481950"/>
                  </a:lnTo>
                  <a:cubicBezTo>
                    <a:pt x="301270" y="521901"/>
                    <a:pt x="285400" y="560215"/>
                    <a:pt x="257150" y="588465"/>
                  </a:cubicBezTo>
                  <a:cubicBezTo>
                    <a:pt x="228901" y="616714"/>
                    <a:pt x="190586" y="632585"/>
                    <a:pt x="150635" y="632585"/>
                  </a:cubicBezTo>
                  <a:lnTo>
                    <a:pt x="150635" y="632585"/>
                  </a:lnTo>
                  <a:cubicBezTo>
                    <a:pt x="110684" y="632585"/>
                    <a:pt x="72370" y="616714"/>
                    <a:pt x="44120" y="588465"/>
                  </a:cubicBezTo>
                  <a:cubicBezTo>
                    <a:pt x="15870" y="560215"/>
                    <a:pt x="0" y="521901"/>
                    <a:pt x="0" y="481950"/>
                  </a:cubicBezTo>
                  <a:lnTo>
                    <a:pt x="0" y="150635"/>
                  </a:lnTo>
                  <a:cubicBezTo>
                    <a:pt x="0" y="110684"/>
                    <a:pt x="15870" y="72370"/>
                    <a:pt x="44120" y="44120"/>
                  </a:cubicBezTo>
                  <a:cubicBezTo>
                    <a:pt x="72370" y="15870"/>
                    <a:pt x="110684" y="0"/>
                    <a:pt x="150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301270" cy="689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200" y="6596394"/>
            <a:ext cx="18288000" cy="3728706"/>
            <a:chOff x="0" y="0"/>
            <a:chExt cx="4816593" cy="11195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2" cy="1119518"/>
            </a:xfrm>
            <a:custGeom>
              <a:avLst/>
              <a:gdLst/>
              <a:ahLst/>
              <a:cxnLst/>
              <a:rect l="l" t="t" r="r" b="b"/>
              <a:pathLst>
                <a:path w="4816592" h="1119518">
                  <a:moveTo>
                    <a:pt x="0" y="0"/>
                  </a:moveTo>
                  <a:lnTo>
                    <a:pt x="4816592" y="0"/>
                  </a:lnTo>
                  <a:lnTo>
                    <a:pt x="4816592" y="1119518"/>
                  </a:lnTo>
                  <a:lnTo>
                    <a:pt x="0" y="1119518"/>
                  </a:ln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0"/>
                  </a:srgbClr>
                </a:gs>
                <a:gs pos="100000">
                  <a:srgbClr val="8DC63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4816593" cy="11766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240477" y="5446808"/>
            <a:ext cx="13944600" cy="5151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72"/>
              </a:lnSpc>
            </a:pPr>
            <a:r>
              <a:rPr lang="es-CO" sz="5400" b="1" i="1" dirty="0">
                <a:solidFill>
                  <a:schemeClr val="bg1"/>
                </a:solidFill>
              </a:rPr>
              <a:t>La inteligencia que impulsa el café de Nariño</a:t>
            </a:r>
            <a:endParaRPr lang="en-US" sz="5400" b="1" i="1" dirty="0">
              <a:solidFill>
                <a:schemeClr val="bg1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11949" y="805146"/>
            <a:ext cx="168686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Agricultura y Desarrollo Rural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8713954"/>
            <a:ext cx="21847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Presentado por: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35697" y="8713954"/>
            <a:ext cx="2184700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Fecha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9075830"/>
            <a:ext cx="2858246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Yordy Andrade</a:t>
            </a:r>
          </a:p>
          <a:p>
            <a:pPr algn="l">
              <a:lnSpc>
                <a:spcPts val="2400"/>
              </a:lnSpc>
            </a:pPr>
            <a:r>
              <a:rPr lang="en-US" sz="2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Luisa Fernanda Tobar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35697" y="9075830"/>
            <a:ext cx="2082204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Julio 2026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660421" y="390285"/>
            <a:ext cx="576868" cy="43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693413"/>
            <a:ext cx="8550861" cy="5150725"/>
            <a:chOff x="0" y="0"/>
            <a:chExt cx="854787" cy="514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4787" cy="514892"/>
            </a:xfrm>
            <a:custGeom>
              <a:avLst/>
              <a:gdLst/>
              <a:ahLst/>
              <a:cxnLst/>
              <a:rect l="l" t="t" r="r" b="b"/>
              <a:pathLst>
                <a:path w="854787" h="514892">
                  <a:moveTo>
                    <a:pt x="53418" y="0"/>
                  </a:moveTo>
                  <a:lnTo>
                    <a:pt x="801369" y="0"/>
                  </a:lnTo>
                  <a:cubicBezTo>
                    <a:pt x="815536" y="0"/>
                    <a:pt x="829123" y="5628"/>
                    <a:pt x="839141" y="15646"/>
                  </a:cubicBezTo>
                  <a:cubicBezTo>
                    <a:pt x="849159" y="25664"/>
                    <a:pt x="854787" y="39251"/>
                    <a:pt x="854787" y="53418"/>
                  </a:cubicBezTo>
                  <a:lnTo>
                    <a:pt x="854787" y="461474"/>
                  </a:lnTo>
                  <a:cubicBezTo>
                    <a:pt x="854787" y="475641"/>
                    <a:pt x="849159" y="489229"/>
                    <a:pt x="839141" y="499246"/>
                  </a:cubicBezTo>
                  <a:cubicBezTo>
                    <a:pt x="829123" y="509264"/>
                    <a:pt x="815536" y="514892"/>
                    <a:pt x="801369" y="514892"/>
                  </a:cubicBezTo>
                  <a:lnTo>
                    <a:pt x="53418" y="514892"/>
                  </a:lnTo>
                  <a:cubicBezTo>
                    <a:pt x="39251" y="514892"/>
                    <a:pt x="25664" y="509264"/>
                    <a:pt x="15646" y="499246"/>
                  </a:cubicBezTo>
                  <a:cubicBezTo>
                    <a:pt x="5628" y="489229"/>
                    <a:pt x="0" y="475641"/>
                    <a:pt x="0" y="461474"/>
                  </a:cubicBezTo>
                  <a:lnTo>
                    <a:pt x="0" y="53418"/>
                  </a:lnTo>
                  <a:cubicBezTo>
                    <a:pt x="0" y="39251"/>
                    <a:pt x="5628" y="25664"/>
                    <a:pt x="15646" y="15646"/>
                  </a:cubicBezTo>
                  <a:cubicBezTo>
                    <a:pt x="25664" y="5628"/>
                    <a:pt x="39251" y="0"/>
                    <a:pt x="53418" y="0"/>
                  </a:cubicBezTo>
                  <a:close/>
                </a:path>
              </a:pathLst>
            </a:custGeom>
            <a:blipFill>
              <a:blip r:embed="rId2"/>
              <a:stretch>
                <a:fillRect t="-11" b="-11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" name="Freeform 4"/>
          <p:cNvSpPr/>
          <p:nvPr/>
        </p:nvSpPr>
        <p:spPr>
          <a:xfrm>
            <a:off x="694311" y="634741"/>
            <a:ext cx="642328" cy="590942"/>
          </a:xfrm>
          <a:custGeom>
            <a:avLst/>
            <a:gdLst/>
            <a:ahLst/>
            <a:cxnLst/>
            <a:rect l="l" t="t" r="r" b="b"/>
            <a:pathLst>
              <a:path w="642328" h="590942">
                <a:moveTo>
                  <a:pt x="0" y="0"/>
                </a:moveTo>
                <a:lnTo>
                  <a:pt x="642328" y="0"/>
                </a:lnTo>
                <a:lnTo>
                  <a:pt x="642328" y="590942"/>
                </a:lnTo>
                <a:lnTo>
                  <a:pt x="0" y="590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5" name="Group 5"/>
          <p:cNvGrpSpPr/>
          <p:nvPr/>
        </p:nvGrpSpPr>
        <p:grpSpPr>
          <a:xfrm>
            <a:off x="16399578" y="-1176161"/>
            <a:ext cx="1143885" cy="2401845"/>
            <a:chOff x="0" y="0"/>
            <a:chExt cx="301270" cy="6325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1270" cy="632585"/>
            </a:xfrm>
            <a:custGeom>
              <a:avLst/>
              <a:gdLst/>
              <a:ahLst/>
              <a:cxnLst/>
              <a:rect l="l" t="t" r="r" b="b"/>
              <a:pathLst>
                <a:path w="301270" h="632585">
                  <a:moveTo>
                    <a:pt x="150635" y="0"/>
                  </a:moveTo>
                  <a:lnTo>
                    <a:pt x="150635" y="0"/>
                  </a:lnTo>
                  <a:cubicBezTo>
                    <a:pt x="190586" y="0"/>
                    <a:pt x="228901" y="15870"/>
                    <a:pt x="257150" y="44120"/>
                  </a:cubicBezTo>
                  <a:cubicBezTo>
                    <a:pt x="285400" y="72370"/>
                    <a:pt x="301270" y="110684"/>
                    <a:pt x="301270" y="150635"/>
                  </a:cubicBezTo>
                  <a:lnTo>
                    <a:pt x="301270" y="481950"/>
                  </a:lnTo>
                  <a:cubicBezTo>
                    <a:pt x="301270" y="521901"/>
                    <a:pt x="285400" y="560215"/>
                    <a:pt x="257150" y="588465"/>
                  </a:cubicBezTo>
                  <a:cubicBezTo>
                    <a:pt x="228901" y="616714"/>
                    <a:pt x="190586" y="632585"/>
                    <a:pt x="150635" y="632585"/>
                  </a:cubicBezTo>
                  <a:lnTo>
                    <a:pt x="150635" y="632585"/>
                  </a:lnTo>
                  <a:cubicBezTo>
                    <a:pt x="110684" y="632585"/>
                    <a:pt x="72370" y="616714"/>
                    <a:pt x="44120" y="588465"/>
                  </a:cubicBezTo>
                  <a:cubicBezTo>
                    <a:pt x="15870" y="560215"/>
                    <a:pt x="0" y="521901"/>
                    <a:pt x="0" y="481950"/>
                  </a:cubicBezTo>
                  <a:lnTo>
                    <a:pt x="0" y="150635"/>
                  </a:lnTo>
                  <a:cubicBezTo>
                    <a:pt x="0" y="110684"/>
                    <a:pt x="15870" y="72370"/>
                    <a:pt x="44120" y="44120"/>
                  </a:cubicBezTo>
                  <a:cubicBezTo>
                    <a:pt x="72370" y="15870"/>
                    <a:pt x="110684" y="0"/>
                    <a:pt x="150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01270" cy="689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2857098" y="6524549"/>
            <a:ext cx="5430902" cy="3611550"/>
          </a:xfrm>
          <a:custGeom>
            <a:avLst/>
            <a:gdLst/>
            <a:ahLst/>
            <a:cxnLst/>
            <a:rect l="l" t="t" r="r" b="b"/>
            <a:pathLst>
              <a:path w="5430902" h="3611550">
                <a:moveTo>
                  <a:pt x="0" y="0"/>
                </a:moveTo>
                <a:lnTo>
                  <a:pt x="5430902" y="0"/>
                </a:lnTo>
                <a:lnTo>
                  <a:pt x="5430902" y="3611550"/>
                </a:lnTo>
                <a:lnTo>
                  <a:pt x="0" y="3611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TextBox 9"/>
          <p:cNvSpPr txBox="1"/>
          <p:nvPr/>
        </p:nvSpPr>
        <p:spPr>
          <a:xfrm>
            <a:off x="5489689" y="650598"/>
            <a:ext cx="7017682" cy="115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>
                <a:solidFill>
                  <a:srgbClr val="006837"/>
                </a:solidFill>
                <a:latin typeface="Mont Bold"/>
                <a:ea typeface="Mont Bold"/>
                <a:cs typeface="Mont Bold"/>
                <a:sym typeface="Mont Bold"/>
              </a:rPr>
              <a:t>PROBLEMA REAL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60421" y="390285"/>
            <a:ext cx="576868" cy="43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9733" y="2955348"/>
            <a:ext cx="8358271" cy="417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Debido a que la mayoría de los caficultores cuentan con predios de solo 1 o 2 hectáreas, una pérdida superior al 50 % de la cosecha causada por el clima o las plagas, resulta devastadora, la capacidad de resiliencia financiera de estas familias es casi nula, exponiéndolas directamente a pérdidas irreversibles o a la quiebra.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8273174"/>
            <a:ext cx="12897117" cy="4695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Trabajar a ciegas: No tienen cómo anticipar si viene un brote agresivo de broca o roya gatillado por un microclima específico.</a:t>
            </a: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99578" y="-1176161"/>
            <a:ext cx="1143885" cy="2401845"/>
            <a:chOff x="0" y="0"/>
            <a:chExt cx="301270" cy="632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270" cy="632585"/>
            </a:xfrm>
            <a:custGeom>
              <a:avLst/>
              <a:gdLst/>
              <a:ahLst/>
              <a:cxnLst/>
              <a:rect l="l" t="t" r="r" b="b"/>
              <a:pathLst>
                <a:path w="301270" h="632585">
                  <a:moveTo>
                    <a:pt x="150635" y="0"/>
                  </a:moveTo>
                  <a:lnTo>
                    <a:pt x="150635" y="0"/>
                  </a:lnTo>
                  <a:cubicBezTo>
                    <a:pt x="190586" y="0"/>
                    <a:pt x="228901" y="15870"/>
                    <a:pt x="257150" y="44120"/>
                  </a:cubicBezTo>
                  <a:cubicBezTo>
                    <a:pt x="285400" y="72370"/>
                    <a:pt x="301270" y="110684"/>
                    <a:pt x="301270" y="150635"/>
                  </a:cubicBezTo>
                  <a:lnTo>
                    <a:pt x="301270" y="481950"/>
                  </a:lnTo>
                  <a:cubicBezTo>
                    <a:pt x="301270" y="521901"/>
                    <a:pt x="285400" y="560215"/>
                    <a:pt x="257150" y="588465"/>
                  </a:cubicBezTo>
                  <a:cubicBezTo>
                    <a:pt x="228901" y="616714"/>
                    <a:pt x="190586" y="632585"/>
                    <a:pt x="150635" y="632585"/>
                  </a:cubicBezTo>
                  <a:lnTo>
                    <a:pt x="150635" y="632585"/>
                  </a:lnTo>
                  <a:cubicBezTo>
                    <a:pt x="110684" y="632585"/>
                    <a:pt x="72370" y="616714"/>
                    <a:pt x="44120" y="588465"/>
                  </a:cubicBezTo>
                  <a:cubicBezTo>
                    <a:pt x="15870" y="560215"/>
                    <a:pt x="0" y="521901"/>
                    <a:pt x="0" y="481950"/>
                  </a:cubicBezTo>
                  <a:lnTo>
                    <a:pt x="0" y="150635"/>
                  </a:lnTo>
                  <a:cubicBezTo>
                    <a:pt x="0" y="110684"/>
                    <a:pt x="15870" y="72370"/>
                    <a:pt x="44120" y="44120"/>
                  </a:cubicBezTo>
                  <a:cubicBezTo>
                    <a:pt x="72370" y="15870"/>
                    <a:pt x="110684" y="0"/>
                    <a:pt x="150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1270" cy="689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466702" y="-650593"/>
            <a:ext cx="9319712" cy="6622619"/>
          </a:xfrm>
          <a:custGeom>
            <a:avLst/>
            <a:gdLst/>
            <a:ahLst/>
            <a:cxnLst/>
            <a:rect l="l" t="t" r="r" b="b"/>
            <a:pathLst>
              <a:path w="9319712" h="6622619">
                <a:moveTo>
                  <a:pt x="0" y="0"/>
                </a:moveTo>
                <a:lnTo>
                  <a:pt x="9319712" y="0"/>
                </a:lnTo>
                <a:lnTo>
                  <a:pt x="9319712" y="6622619"/>
                </a:lnTo>
                <a:lnTo>
                  <a:pt x="0" y="6622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02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Freeform 6"/>
          <p:cNvSpPr/>
          <p:nvPr/>
        </p:nvSpPr>
        <p:spPr>
          <a:xfrm rot="2140874">
            <a:off x="8179201" y="2113595"/>
            <a:ext cx="12282985" cy="8229600"/>
          </a:xfrm>
          <a:custGeom>
            <a:avLst/>
            <a:gdLst/>
            <a:ahLst/>
            <a:cxnLst/>
            <a:rect l="l" t="t" r="r" b="b"/>
            <a:pathLst>
              <a:path w="12282985" h="8229600">
                <a:moveTo>
                  <a:pt x="0" y="0"/>
                </a:moveTo>
                <a:lnTo>
                  <a:pt x="12282986" y="0"/>
                </a:lnTo>
                <a:lnTo>
                  <a:pt x="1228298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16660421" y="390285"/>
            <a:ext cx="576868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147407" y="1431531"/>
            <a:ext cx="10396056" cy="2600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La Federación Nacional de Cafeteros y las Centrales de Beneficio Comunitario de Nariño brindan asistencia técnica, pero sus ingenieros agrónomos no dan abasto para visitar las más de 54.000 familias cafeteras del departamento.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96851" y="4277524"/>
            <a:ext cx="12228753" cy="6791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endParaRPr/>
          </a:p>
          <a:p>
            <a:pPr algn="ctr">
              <a:lnSpc>
                <a:spcPts val="4199"/>
              </a:lnSpc>
            </a:pPr>
            <a:endParaRPr/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En Nariño, recolectar café es difícil por las pendientes y la falta de recolectores en temporadas altas. </a:t>
            </a: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Las instituciones fallan en educar al campesino sobre cuándo aguantar el café y cuándo venderlo.</a:t>
            </a: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La principal falencia es la falta de alertas tempranas personalizadas a nivel de vereda o microclima.</a:t>
            </a: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4938" y="634741"/>
            <a:ext cx="642328" cy="590942"/>
          </a:xfrm>
          <a:custGeom>
            <a:avLst/>
            <a:gdLst/>
            <a:ahLst/>
            <a:cxnLst/>
            <a:rect l="l" t="t" r="r" b="b"/>
            <a:pathLst>
              <a:path w="642328" h="590942">
                <a:moveTo>
                  <a:pt x="0" y="0"/>
                </a:moveTo>
                <a:lnTo>
                  <a:pt x="642329" y="0"/>
                </a:lnTo>
                <a:lnTo>
                  <a:pt x="642329" y="590942"/>
                </a:lnTo>
                <a:lnTo>
                  <a:pt x="0" y="590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16399578" y="-1176161"/>
            <a:ext cx="1143885" cy="2401845"/>
            <a:chOff x="0" y="0"/>
            <a:chExt cx="301270" cy="6325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1270" cy="632585"/>
            </a:xfrm>
            <a:custGeom>
              <a:avLst/>
              <a:gdLst/>
              <a:ahLst/>
              <a:cxnLst/>
              <a:rect l="l" t="t" r="r" b="b"/>
              <a:pathLst>
                <a:path w="301270" h="632585">
                  <a:moveTo>
                    <a:pt x="150635" y="0"/>
                  </a:moveTo>
                  <a:lnTo>
                    <a:pt x="150635" y="0"/>
                  </a:lnTo>
                  <a:cubicBezTo>
                    <a:pt x="190586" y="0"/>
                    <a:pt x="228901" y="15870"/>
                    <a:pt x="257150" y="44120"/>
                  </a:cubicBezTo>
                  <a:cubicBezTo>
                    <a:pt x="285400" y="72370"/>
                    <a:pt x="301270" y="110684"/>
                    <a:pt x="301270" y="150635"/>
                  </a:cubicBezTo>
                  <a:lnTo>
                    <a:pt x="301270" y="481950"/>
                  </a:lnTo>
                  <a:cubicBezTo>
                    <a:pt x="301270" y="521901"/>
                    <a:pt x="285400" y="560215"/>
                    <a:pt x="257150" y="588465"/>
                  </a:cubicBezTo>
                  <a:cubicBezTo>
                    <a:pt x="228901" y="616714"/>
                    <a:pt x="190586" y="632585"/>
                    <a:pt x="150635" y="632585"/>
                  </a:cubicBezTo>
                  <a:lnTo>
                    <a:pt x="150635" y="632585"/>
                  </a:lnTo>
                  <a:cubicBezTo>
                    <a:pt x="110684" y="632585"/>
                    <a:pt x="72370" y="616714"/>
                    <a:pt x="44120" y="588465"/>
                  </a:cubicBezTo>
                  <a:cubicBezTo>
                    <a:pt x="15870" y="560215"/>
                    <a:pt x="0" y="521901"/>
                    <a:pt x="0" y="481950"/>
                  </a:cubicBezTo>
                  <a:lnTo>
                    <a:pt x="0" y="150635"/>
                  </a:lnTo>
                  <a:cubicBezTo>
                    <a:pt x="0" y="110684"/>
                    <a:pt x="15870" y="72370"/>
                    <a:pt x="44120" y="44120"/>
                  </a:cubicBezTo>
                  <a:cubicBezTo>
                    <a:pt x="72370" y="15870"/>
                    <a:pt x="110684" y="0"/>
                    <a:pt x="150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01270" cy="689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632227" y="2748391"/>
            <a:ext cx="9605061" cy="5727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60"/>
              </a:lnSpc>
            </a:pPr>
            <a:r>
              <a:rPr lang="en-US" sz="361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solución consulta de forma automática el dataset EVA (Evaluaciones Agropecuarias Municipales, UPRA/MinAgricultura) publicado en datos.gov.co, para obtener el histórico real de área sembrada, área cosechada, producción y rendimiento cafetero por municipio. Con esa información, la herramienta ofrece al caficultor dos servicios: </a:t>
            </a:r>
          </a:p>
        </p:txBody>
      </p:sp>
      <p:sp>
        <p:nvSpPr>
          <p:cNvPr id="7" name="Freeform 7"/>
          <p:cNvSpPr/>
          <p:nvPr/>
        </p:nvSpPr>
        <p:spPr>
          <a:xfrm>
            <a:off x="328617" y="2545846"/>
            <a:ext cx="6980400" cy="6942493"/>
          </a:xfrm>
          <a:custGeom>
            <a:avLst/>
            <a:gdLst/>
            <a:ahLst/>
            <a:cxnLst/>
            <a:rect l="l" t="t" r="r" b="b"/>
            <a:pathLst>
              <a:path w="6980400" h="6942493">
                <a:moveTo>
                  <a:pt x="0" y="0"/>
                </a:moveTo>
                <a:lnTo>
                  <a:pt x="6980400" y="0"/>
                </a:lnTo>
                <a:lnTo>
                  <a:pt x="6980400" y="6942493"/>
                </a:lnTo>
                <a:lnTo>
                  <a:pt x="0" y="69424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168" r="-41168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3818817" y="857250"/>
            <a:ext cx="10650366" cy="115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>
                <a:solidFill>
                  <a:srgbClr val="006837"/>
                </a:solidFill>
                <a:latin typeface="Mont Bold"/>
                <a:ea typeface="Mont Bold"/>
                <a:cs typeface="Mont Bold"/>
                <a:sym typeface="Mont Bold"/>
              </a:rPr>
              <a:t>Solución con datos + IA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660421" y="390285"/>
            <a:ext cx="576868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017" y="-5269461"/>
            <a:ext cx="18872462" cy="16173873"/>
          </a:xfrm>
          <a:custGeom>
            <a:avLst/>
            <a:gdLst/>
            <a:ahLst/>
            <a:cxnLst/>
            <a:rect l="l" t="t" r="r" b="b"/>
            <a:pathLst>
              <a:path w="18872462" h="16173873">
                <a:moveTo>
                  <a:pt x="0" y="0"/>
                </a:moveTo>
                <a:lnTo>
                  <a:pt x="18872462" y="0"/>
                </a:lnTo>
                <a:lnTo>
                  <a:pt x="18872462" y="16173873"/>
                </a:lnTo>
                <a:lnTo>
                  <a:pt x="0" y="161738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436" r="-14436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9218066" y="2208316"/>
            <a:ext cx="7989890" cy="6733319"/>
            <a:chOff x="0" y="0"/>
            <a:chExt cx="2104333" cy="17733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04333" cy="1773384"/>
            </a:xfrm>
            <a:custGeom>
              <a:avLst/>
              <a:gdLst/>
              <a:ahLst/>
              <a:cxnLst/>
              <a:rect l="l" t="t" r="r" b="b"/>
              <a:pathLst>
                <a:path w="2104333" h="1773384">
                  <a:moveTo>
                    <a:pt x="49417" y="0"/>
                  </a:moveTo>
                  <a:lnTo>
                    <a:pt x="2054916" y="0"/>
                  </a:lnTo>
                  <a:cubicBezTo>
                    <a:pt x="2068022" y="0"/>
                    <a:pt x="2080592" y="5206"/>
                    <a:pt x="2089859" y="14474"/>
                  </a:cubicBezTo>
                  <a:cubicBezTo>
                    <a:pt x="2099127" y="23741"/>
                    <a:pt x="2104333" y="36311"/>
                    <a:pt x="2104333" y="49417"/>
                  </a:cubicBezTo>
                  <a:lnTo>
                    <a:pt x="2104333" y="1723967"/>
                  </a:lnTo>
                  <a:cubicBezTo>
                    <a:pt x="2104333" y="1737073"/>
                    <a:pt x="2099127" y="1749643"/>
                    <a:pt x="2089859" y="1758910"/>
                  </a:cubicBezTo>
                  <a:cubicBezTo>
                    <a:pt x="2080592" y="1768178"/>
                    <a:pt x="2068022" y="1773384"/>
                    <a:pt x="2054916" y="1773384"/>
                  </a:cubicBezTo>
                  <a:lnTo>
                    <a:pt x="49417" y="1773384"/>
                  </a:lnTo>
                  <a:cubicBezTo>
                    <a:pt x="36311" y="1773384"/>
                    <a:pt x="23741" y="1768178"/>
                    <a:pt x="14474" y="1758910"/>
                  </a:cubicBezTo>
                  <a:cubicBezTo>
                    <a:pt x="5206" y="1749643"/>
                    <a:pt x="0" y="1737073"/>
                    <a:pt x="0" y="1723967"/>
                  </a:cubicBezTo>
                  <a:lnTo>
                    <a:pt x="0" y="49417"/>
                  </a:lnTo>
                  <a:cubicBezTo>
                    <a:pt x="0" y="36311"/>
                    <a:pt x="5206" y="23741"/>
                    <a:pt x="14474" y="14474"/>
                  </a:cubicBezTo>
                  <a:cubicBezTo>
                    <a:pt x="23741" y="5206"/>
                    <a:pt x="36311" y="0"/>
                    <a:pt x="494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8DC63F">
                      <a:alpha val="100000"/>
                    </a:srgbClr>
                  </a:gs>
                  <a:gs pos="100000">
                    <a:srgbClr val="006F31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104333" cy="183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6639" y="2208316"/>
            <a:ext cx="6436882" cy="6733319"/>
            <a:chOff x="0" y="0"/>
            <a:chExt cx="1695310" cy="17733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95310" cy="1773384"/>
            </a:xfrm>
            <a:custGeom>
              <a:avLst/>
              <a:gdLst/>
              <a:ahLst/>
              <a:cxnLst/>
              <a:rect l="l" t="t" r="r" b="b"/>
              <a:pathLst>
                <a:path w="1695310" h="1773384">
                  <a:moveTo>
                    <a:pt x="61340" y="0"/>
                  </a:moveTo>
                  <a:lnTo>
                    <a:pt x="1633971" y="0"/>
                  </a:lnTo>
                  <a:cubicBezTo>
                    <a:pt x="1667848" y="0"/>
                    <a:pt x="1695310" y="27463"/>
                    <a:pt x="1695310" y="61340"/>
                  </a:cubicBezTo>
                  <a:lnTo>
                    <a:pt x="1695310" y="1712045"/>
                  </a:lnTo>
                  <a:cubicBezTo>
                    <a:pt x="1695310" y="1745922"/>
                    <a:pt x="1667848" y="1773384"/>
                    <a:pt x="1633971" y="1773384"/>
                  </a:cubicBezTo>
                  <a:lnTo>
                    <a:pt x="61340" y="1773384"/>
                  </a:lnTo>
                  <a:cubicBezTo>
                    <a:pt x="45072" y="1773384"/>
                    <a:pt x="29470" y="1766922"/>
                    <a:pt x="17966" y="1755418"/>
                  </a:cubicBezTo>
                  <a:cubicBezTo>
                    <a:pt x="6463" y="1743915"/>
                    <a:pt x="0" y="1728313"/>
                    <a:pt x="0" y="1712045"/>
                  </a:cubicBezTo>
                  <a:lnTo>
                    <a:pt x="0" y="61340"/>
                  </a:lnTo>
                  <a:cubicBezTo>
                    <a:pt x="0" y="27463"/>
                    <a:pt x="27463" y="0"/>
                    <a:pt x="6134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8DC63F">
                      <a:alpha val="100000"/>
                    </a:srgbClr>
                  </a:gs>
                  <a:gs pos="100000">
                    <a:srgbClr val="006F31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695310" cy="18305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15475" y="733229"/>
            <a:ext cx="642328" cy="590942"/>
          </a:xfrm>
          <a:custGeom>
            <a:avLst/>
            <a:gdLst/>
            <a:ahLst/>
            <a:cxnLst/>
            <a:rect l="l" t="t" r="r" b="b"/>
            <a:pathLst>
              <a:path w="642328" h="590942">
                <a:moveTo>
                  <a:pt x="0" y="0"/>
                </a:moveTo>
                <a:lnTo>
                  <a:pt x="642328" y="0"/>
                </a:lnTo>
                <a:lnTo>
                  <a:pt x="642328" y="590942"/>
                </a:lnTo>
                <a:lnTo>
                  <a:pt x="0" y="590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10" name="Group 10"/>
          <p:cNvGrpSpPr/>
          <p:nvPr/>
        </p:nvGrpSpPr>
        <p:grpSpPr>
          <a:xfrm>
            <a:off x="16399578" y="-1176161"/>
            <a:ext cx="1143885" cy="2401845"/>
            <a:chOff x="0" y="0"/>
            <a:chExt cx="301270" cy="6325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1270" cy="632585"/>
            </a:xfrm>
            <a:custGeom>
              <a:avLst/>
              <a:gdLst/>
              <a:ahLst/>
              <a:cxnLst/>
              <a:rect l="l" t="t" r="r" b="b"/>
              <a:pathLst>
                <a:path w="301270" h="632585">
                  <a:moveTo>
                    <a:pt x="150635" y="0"/>
                  </a:moveTo>
                  <a:lnTo>
                    <a:pt x="150635" y="0"/>
                  </a:lnTo>
                  <a:cubicBezTo>
                    <a:pt x="190586" y="0"/>
                    <a:pt x="228901" y="15870"/>
                    <a:pt x="257150" y="44120"/>
                  </a:cubicBezTo>
                  <a:cubicBezTo>
                    <a:pt x="285400" y="72370"/>
                    <a:pt x="301270" y="110684"/>
                    <a:pt x="301270" y="150635"/>
                  </a:cubicBezTo>
                  <a:lnTo>
                    <a:pt x="301270" y="481950"/>
                  </a:lnTo>
                  <a:cubicBezTo>
                    <a:pt x="301270" y="521901"/>
                    <a:pt x="285400" y="560215"/>
                    <a:pt x="257150" y="588465"/>
                  </a:cubicBezTo>
                  <a:cubicBezTo>
                    <a:pt x="228901" y="616714"/>
                    <a:pt x="190586" y="632585"/>
                    <a:pt x="150635" y="632585"/>
                  </a:cubicBezTo>
                  <a:lnTo>
                    <a:pt x="150635" y="632585"/>
                  </a:lnTo>
                  <a:cubicBezTo>
                    <a:pt x="110684" y="632585"/>
                    <a:pt x="72370" y="616714"/>
                    <a:pt x="44120" y="588465"/>
                  </a:cubicBezTo>
                  <a:cubicBezTo>
                    <a:pt x="15870" y="560215"/>
                    <a:pt x="0" y="521901"/>
                    <a:pt x="0" y="481950"/>
                  </a:cubicBezTo>
                  <a:lnTo>
                    <a:pt x="0" y="150635"/>
                  </a:lnTo>
                  <a:cubicBezTo>
                    <a:pt x="0" y="110684"/>
                    <a:pt x="15870" y="72370"/>
                    <a:pt x="44120" y="44120"/>
                  </a:cubicBezTo>
                  <a:cubicBezTo>
                    <a:pt x="72370" y="15870"/>
                    <a:pt x="110684" y="0"/>
                    <a:pt x="150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01270" cy="689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510317" y="2741276"/>
            <a:ext cx="3850602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999" b="1">
                <a:solidFill>
                  <a:srgbClr val="006837"/>
                </a:solidFill>
                <a:latin typeface="Mont Bold"/>
                <a:ea typeface="Mont Bold"/>
                <a:cs typeface="Mont Bold"/>
                <a:sym typeface="Mont Bold"/>
              </a:rPr>
              <a:t>ESTIMACIÓN DE LA COSECHA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83197" y="3984794"/>
            <a:ext cx="5943767" cy="417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Basada en el rendimiento histórico real de su municipio (en vez de cifras genéricas o inventadas), y un indicador de riesgo que compara el rendimiento del último año reportado contra el promedio histórico del municipio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660421" y="390285"/>
            <a:ext cx="576868" cy="43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05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66903" y="2601903"/>
            <a:ext cx="3850602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9"/>
              </a:lnSpc>
            </a:pPr>
            <a:r>
              <a:rPr lang="en-US" sz="2999" b="1">
                <a:solidFill>
                  <a:srgbClr val="006837"/>
                </a:solidFill>
                <a:latin typeface="Mont Bold"/>
                <a:ea typeface="Mont Bold"/>
                <a:cs typeface="Mont Bold"/>
                <a:sym typeface="Mont Bold"/>
              </a:rPr>
              <a:t>ASISTENTE CONVERSACIONAL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07214" y="3680353"/>
            <a:ext cx="7359608" cy="478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39"/>
              </a:lnSpc>
            </a:pPr>
            <a:r>
              <a:rPr lang="en-US" sz="3028" b="1">
                <a:solidFill>
                  <a:srgbClr val="545454"/>
                </a:solidFill>
                <a:latin typeface="Inter Bold"/>
                <a:ea typeface="Inter Bold"/>
                <a:cs typeface="Inter Bold"/>
                <a:sym typeface="Inter Bold"/>
              </a:rPr>
              <a:t>Modelo de lenguaje Gemini, vía OpenRouter </a:t>
            </a:r>
            <a:r>
              <a:rPr lang="en-US" sz="3028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que responde preguntas del caficultor en tono cercano y campesino, consultando datos agrícolas reales de datos.gov.co como contexto para sus respuestas. Los resultados pueden compartirse como mensaje de texto o como reporte descargable en PDF, listo para adjuntar en WhatsApp.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4311" y="634741"/>
            <a:ext cx="642328" cy="590942"/>
          </a:xfrm>
          <a:custGeom>
            <a:avLst/>
            <a:gdLst/>
            <a:ahLst/>
            <a:cxnLst/>
            <a:rect l="l" t="t" r="r" b="b"/>
            <a:pathLst>
              <a:path w="642328" h="590942">
                <a:moveTo>
                  <a:pt x="0" y="0"/>
                </a:moveTo>
                <a:lnTo>
                  <a:pt x="642328" y="0"/>
                </a:lnTo>
                <a:lnTo>
                  <a:pt x="642328" y="590942"/>
                </a:lnTo>
                <a:lnTo>
                  <a:pt x="0" y="590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0" y="5934084"/>
            <a:ext cx="10430646" cy="4402808"/>
            <a:chOff x="0" y="0"/>
            <a:chExt cx="2747166" cy="11595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47166" cy="1159587"/>
            </a:xfrm>
            <a:custGeom>
              <a:avLst/>
              <a:gdLst/>
              <a:ahLst/>
              <a:cxnLst/>
              <a:rect l="l" t="t" r="r" b="b"/>
              <a:pathLst>
                <a:path w="2747166" h="1159587">
                  <a:moveTo>
                    <a:pt x="50472" y="0"/>
                  </a:moveTo>
                  <a:lnTo>
                    <a:pt x="2696695" y="0"/>
                  </a:lnTo>
                  <a:cubicBezTo>
                    <a:pt x="2710081" y="0"/>
                    <a:pt x="2722918" y="5318"/>
                    <a:pt x="2732383" y="14783"/>
                  </a:cubicBezTo>
                  <a:cubicBezTo>
                    <a:pt x="2741849" y="24248"/>
                    <a:pt x="2747166" y="37086"/>
                    <a:pt x="2747166" y="50472"/>
                  </a:cubicBezTo>
                  <a:lnTo>
                    <a:pt x="2747166" y="1109116"/>
                  </a:lnTo>
                  <a:cubicBezTo>
                    <a:pt x="2747166" y="1122502"/>
                    <a:pt x="2741849" y="1135339"/>
                    <a:pt x="2732383" y="1144805"/>
                  </a:cubicBezTo>
                  <a:cubicBezTo>
                    <a:pt x="2722918" y="1154270"/>
                    <a:pt x="2710081" y="1159587"/>
                    <a:pt x="2696695" y="1159587"/>
                  </a:cubicBezTo>
                  <a:lnTo>
                    <a:pt x="50472" y="1159587"/>
                  </a:lnTo>
                  <a:cubicBezTo>
                    <a:pt x="37086" y="1159587"/>
                    <a:pt x="24248" y="1154270"/>
                    <a:pt x="14783" y="1144805"/>
                  </a:cubicBezTo>
                  <a:cubicBezTo>
                    <a:pt x="5318" y="1135339"/>
                    <a:pt x="0" y="1122502"/>
                    <a:pt x="0" y="1109116"/>
                  </a:cubicBezTo>
                  <a:lnTo>
                    <a:pt x="0" y="50472"/>
                  </a:lnTo>
                  <a:cubicBezTo>
                    <a:pt x="0" y="37086"/>
                    <a:pt x="5318" y="24248"/>
                    <a:pt x="14783" y="14783"/>
                  </a:cubicBezTo>
                  <a:cubicBezTo>
                    <a:pt x="24248" y="5318"/>
                    <a:pt x="37086" y="0"/>
                    <a:pt x="50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47166" cy="1216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68213" y="3373197"/>
            <a:ext cx="2709162" cy="3187249"/>
          </a:xfrm>
          <a:custGeom>
            <a:avLst/>
            <a:gdLst/>
            <a:ahLst/>
            <a:cxnLst/>
            <a:rect l="l" t="t" r="r" b="b"/>
            <a:pathLst>
              <a:path w="2709162" h="3187249">
                <a:moveTo>
                  <a:pt x="2709162" y="0"/>
                </a:moveTo>
                <a:lnTo>
                  <a:pt x="0" y="0"/>
                </a:lnTo>
                <a:lnTo>
                  <a:pt x="0" y="3187250"/>
                </a:lnTo>
                <a:lnTo>
                  <a:pt x="2709162" y="3187250"/>
                </a:lnTo>
                <a:lnTo>
                  <a:pt x="270916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7" name="Group 7"/>
          <p:cNvGrpSpPr/>
          <p:nvPr/>
        </p:nvGrpSpPr>
        <p:grpSpPr>
          <a:xfrm>
            <a:off x="1336639" y="6351475"/>
            <a:ext cx="4458308" cy="3552303"/>
            <a:chOff x="0" y="0"/>
            <a:chExt cx="1174204" cy="9355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4204" cy="935586"/>
            </a:xfrm>
            <a:custGeom>
              <a:avLst/>
              <a:gdLst/>
              <a:ahLst/>
              <a:cxnLst/>
              <a:rect l="l" t="t" r="r" b="b"/>
              <a:pathLst>
                <a:path w="1174204" h="935586">
                  <a:moveTo>
                    <a:pt x="65988" y="0"/>
                  </a:moveTo>
                  <a:lnTo>
                    <a:pt x="1108217" y="0"/>
                  </a:lnTo>
                  <a:cubicBezTo>
                    <a:pt x="1125718" y="0"/>
                    <a:pt x="1142502" y="6952"/>
                    <a:pt x="1154877" y="19327"/>
                  </a:cubicBezTo>
                  <a:cubicBezTo>
                    <a:pt x="1167252" y="31702"/>
                    <a:pt x="1174204" y="48487"/>
                    <a:pt x="1174204" y="65988"/>
                  </a:cubicBezTo>
                  <a:lnTo>
                    <a:pt x="1174204" y="869598"/>
                  </a:lnTo>
                  <a:cubicBezTo>
                    <a:pt x="1174204" y="906042"/>
                    <a:pt x="1144661" y="935586"/>
                    <a:pt x="1108217" y="935586"/>
                  </a:cubicBezTo>
                  <a:lnTo>
                    <a:pt x="65988" y="935586"/>
                  </a:lnTo>
                  <a:cubicBezTo>
                    <a:pt x="48487" y="935586"/>
                    <a:pt x="31702" y="928634"/>
                    <a:pt x="19327" y="916259"/>
                  </a:cubicBezTo>
                  <a:cubicBezTo>
                    <a:pt x="6952" y="903884"/>
                    <a:pt x="0" y="887099"/>
                    <a:pt x="0" y="869598"/>
                  </a:cubicBezTo>
                  <a:lnTo>
                    <a:pt x="0" y="65988"/>
                  </a:lnTo>
                  <a:cubicBezTo>
                    <a:pt x="0" y="29544"/>
                    <a:pt x="29544" y="0"/>
                    <a:pt x="6598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8DC63F">
                      <a:alpha val="100000"/>
                    </a:srgbClr>
                  </a:gs>
                  <a:gs pos="100000">
                    <a:srgbClr val="006F31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174204" cy="992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7992450" y="1809510"/>
            <a:ext cx="3122015" cy="4557686"/>
          </a:xfrm>
          <a:custGeom>
            <a:avLst/>
            <a:gdLst/>
            <a:ahLst/>
            <a:cxnLst/>
            <a:rect l="l" t="t" r="r" b="b"/>
            <a:pathLst>
              <a:path w="3122015" h="4557686">
                <a:moveTo>
                  <a:pt x="0" y="0"/>
                </a:moveTo>
                <a:lnTo>
                  <a:pt x="3122016" y="0"/>
                </a:lnTo>
                <a:lnTo>
                  <a:pt x="3122016" y="4557686"/>
                </a:lnTo>
                <a:lnTo>
                  <a:pt x="0" y="4557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11" name="Group 11"/>
          <p:cNvGrpSpPr/>
          <p:nvPr/>
        </p:nvGrpSpPr>
        <p:grpSpPr>
          <a:xfrm>
            <a:off x="6181414" y="6321930"/>
            <a:ext cx="4458308" cy="3581849"/>
            <a:chOff x="0" y="0"/>
            <a:chExt cx="1174204" cy="9433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74204" cy="943368"/>
            </a:xfrm>
            <a:custGeom>
              <a:avLst/>
              <a:gdLst/>
              <a:ahLst/>
              <a:cxnLst/>
              <a:rect l="l" t="t" r="r" b="b"/>
              <a:pathLst>
                <a:path w="1174204" h="943368">
                  <a:moveTo>
                    <a:pt x="65988" y="0"/>
                  </a:moveTo>
                  <a:lnTo>
                    <a:pt x="1108217" y="0"/>
                  </a:lnTo>
                  <a:cubicBezTo>
                    <a:pt x="1125718" y="0"/>
                    <a:pt x="1142502" y="6952"/>
                    <a:pt x="1154877" y="19327"/>
                  </a:cubicBezTo>
                  <a:cubicBezTo>
                    <a:pt x="1167252" y="31702"/>
                    <a:pt x="1174204" y="48487"/>
                    <a:pt x="1174204" y="65988"/>
                  </a:cubicBezTo>
                  <a:lnTo>
                    <a:pt x="1174204" y="877380"/>
                  </a:lnTo>
                  <a:cubicBezTo>
                    <a:pt x="1174204" y="894881"/>
                    <a:pt x="1167252" y="911665"/>
                    <a:pt x="1154877" y="924040"/>
                  </a:cubicBezTo>
                  <a:cubicBezTo>
                    <a:pt x="1142502" y="936415"/>
                    <a:pt x="1125718" y="943368"/>
                    <a:pt x="1108217" y="943368"/>
                  </a:cubicBezTo>
                  <a:lnTo>
                    <a:pt x="65988" y="943368"/>
                  </a:lnTo>
                  <a:cubicBezTo>
                    <a:pt x="29544" y="943368"/>
                    <a:pt x="0" y="913824"/>
                    <a:pt x="0" y="877380"/>
                  </a:cubicBezTo>
                  <a:lnTo>
                    <a:pt x="0" y="65988"/>
                  </a:lnTo>
                  <a:cubicBezTo>
                    <a:pt x="0" y="29544"/>
                    <a:pt x="29544" y="0"/>
                    <a:pt x="6598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gradFill>
                <a:gsLst>
                  <a:gs pos="0">
                    <a:srgbClr val="8DC63F">
                      <a:alpha val="100000"/>
                    </a:srgbClr>
                  </a:gs>
                  <a:gs pos="100000">
                    <a:srgbClr val="006F31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174204" cy="10005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99578" y="-1176161"/>
            <a:ext cx="1143885" cy="2401845"/>
            <a:chOff x="0" y="0"/>
            <a:chExt cx="301270" cy="6325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01270" cy="632585"/>
            </a:xfrm>
            <a:custGeom>
              <a:avLst/>
              <a:gdLst/>
              <a:ahLst/>
              <a:cxnLst/>
              <a:rect l="l" t="t" r="r" b="b"/>
              <a:pathLst>
                <a:path w="301270" h="632585">
                  <a:moveTo>
                    <a:pt x="150635" y="0"/>
                  </a:moveTo>
                  <a:lnTo>
                    <a:pt x="150635" y="0"/>
                  </a:lnTo>
                  <a:cubicBezTo>
                    <a:pt x="190586" y="0"/>
                    <a:pt x="228901" y="15870"/>
                    <a:pt x="257150" y="44120"/>
                  </a:cubicBezTo>
                  <a:cubicBezTo>
                    <a:pt x="285400" y="72370"/>
                    <a:pt x="301270" y="110684"/>
                    <a:pt x="301270" y="150635"/>
                  </a:cubicBezTo>
                  <a:lnTo>
                    <a:pt x="301270" y="481950"/>
                  </a:lnTo>
                  <a:cubicBezTo>
                    <a:pt x="301270" y="521901"/>
                    <a:pt x="285400" y="560215"/>
                    <a:pt x="257150" y="588465"/>
                  </a:cubicBezTo>
                  <a:cubicBezTo>
                    <a:pt x="228901" y="616714"/>
                    <a:pt x="190586" y="632585"/>
                    <a:pt x="150635" y="632585"/>
                  </a:cubicBezTo>
                  <a:lnTo>
                    <a:pt x="150635" y="632585"/>
                  </a:lnTo>
                  <a:cubicBezTo>
                    <a:pt x="110684" y="632585"/>
                    <a:pt x="72370" y="616714"/>
                    <a:pt x="44120" y="588465"/>
                  </a:cubicBezTo>
                  <a:cubicBezTo>
                    <a:pt x="15870" y="560215"/>
                    <a:pt x="0" y="521901"/>
                    <a:pt x="0" y="481950"/>
                  </a:cubicBezTo>
                  <a:lnTo>
                    <a:pt x="0" y="150635"/>
                  </a:lnTo>
                  <a:cubicBezTo>
                    <a:pt x="0" y="110684"/>
                    <a:pt x="15870" y="72370"/>
                    <a:pt x="44120" y="44120"/>
                  </a:cubicBezTo>
                  <a:cubicBezTo>
                    <a:pt x="72370" y="15870"/>
                    <a:pt x="110684" y="0"/>
                    <a:pt x="150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301270" cy="689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2777375" y="1315797"/>
            <a:ext cx="4898571" cy="4114800"/>
          </a:xfrm>
          <a:custGeom>
            <a:avLst/>
            <a:gdLst/>
            <a:ahLst/>
            <a:cxnLst/>
            <a:rect l="l" t="t" r="r" b="b"/>
            <a:pathLst>
              <a:path w="4898571" h="4114800">
                <a:moveTo>
                  <a:pt x="0" y="0"/>
                </a:moveTo>
                <a:lnTo>
                  <a:pt x="4898571" y="0"/>
                </a:lnTo>
                <a:lnTo>
                  <a:pt x="48985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8" name="TextBox 18"/>
          <p:cNvSpPr txBox="1"/>
          <p:nvPr/>
        </p:nvSpPr>
        <p:spPr>
          <a:xfrm>
            <a:off x="11114465" y="650635"/>
            <a:ext cx="5125584" cy="9425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err="1">
                <a:solidFill>
                  <a:srgbClr val="006837"/>
                </a:solidFill>
                <a:latin typeface="Mont Bold"/>
                <a:ea typeface="Mont Bold"/>
                <a:cs typeface="Mont Bold"/>
                <a:sym typeface="Mont Bold"/>
              </a:rPr>
              <a:t>Resultados</a:t>
            </a:r>
            <a:endParaRPr lang="en-US" sz="6500" b="1" dirty="0">
              <a:solidFill>
                <a:srgbClr val="006837"/>
              </a:solidFill>
              <a:latin typeface="Mont Bold"/>
              <a:ea typeface="Mont Bold"/>
              <a:cs typeface="Mont Bold"/>
              <a:sym typeface="Mont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428791" y="2064702"/>
            <a:ext cx="5084419" cy="7839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La información pública capaz de mitigar estos riesgos existe, pero se encuentra dispersa, en formatos puramente tabulares y desconectada de la realidad del campo. AgroIA-Nariño resuelve este problema unificando la analítica de datos abiertos del Estado para transformarla en una herramienta de toma de decisiones preventivas en tiempo real.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30387" y="6503297"/>
            <a:ext cx="3870812" cy="3191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Es una plataforma que ayuda al campesino a predecir su cosecha de café estimada, con ayuda de IA y gracias a los datasets de datos abiertos del gobierno.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263579" y="6704475"/>
            <a:ext cx="4293977" cy="2277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Cuenta tambien con un chat inteligente e interactivo el cual esta conectado al modelo de gemini 2.0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660421" y="390285"/>
            <a:ext cx="576868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505323" y="634741"/>
            <a:ext cx="5826332" cy="10556975"/>
            <a:chOff x="0" y="0"/>
            <a:chExt cx="1534507" cy="27804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4507" cy="2780438"/>
            </a:xfrm>
            <a:custGeom>
              <a:avLst/>
              <a:gdLst/>
              <a:ahLst/>
              <a:cxnLst/>
              <a:rect l="l" t="t" r="r" b="b"/>
              <a:pathLst>
                <a:path w="1534507" h="2780438">
                  <a:moveTo>
                    <a:pt x="90357" y="0"/>
                  </a:moveTo>
                  <a:lnTo>
                    <a:pt x="1444150" y="0"/>
                  </a:lnTo>
                  <a:cubicBezTo>
                    <a:pt x="1494053" y="0"/>
                    <a:pt x="1534507" y="40454"/>
                    <a:pt x="1534507" y="90357"/>
                  </a:cubicBezTo>
                  <a:lnTo>
                    <a:pt x="1534507" y="2690081"/>
                  </a:lnTo>
                  <a:cubicBezTo>
                    <a:pt x="1534507" y="2714045"/>
                    <a:pt x="1524987" y="2737028"/>
                    <a:pt x="1508042" y="2753973"/>
                  </a:cubicBezTo>
                  <a:cubicBezTo>
                    <a:pt x="1491097" y="2770918"/>
                    <a:pt x="1468114" y="2780438"/>
                    <a:pt x="1444150" y="2780438"/>
                  </a:cubicBezTo>
                  <a:lnTo>
                    <a:pt x="90357" y="2780438"/>
                  </a:lnTo>
                  <a:cubicBezTo>
                    <a:pt x="40454" y="2780438"/>
                    <a:pt x="0" y="2739984"/>
                    <a:pt x="0" y="2690081"/>
                  </a:cubicBezTo>
                  <a:lnTo>
                    <a:pt x="0" y="90357"/>
                  </a:lnTo>
                  <a:cubicBezTo>
                    <a:pt x="0" y="40454"/>
                    <a:pt x="40454" y="0"/>
                    <a:pt x="903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534507" cy="2837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399578" y="-1176161"/>
            <a:ext cx="1143885" cy="2401845"/>
            <a:chOff x="0" y="0"/>
            <a:chExt cx="301270" cy="6325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1270" cy="632585"/>
            </a:xfrm>
            <a:custGeom>
              <a:avLst/>
              <a:gdLst/>
              <a:ahLst/>
              <a:cxnLst/>
              <a:rect l="l" t="t" r="r" b="b"/>
              <a:pathLst>
                <a:path w="301270" h="632585">
                  <a:moveTo>
                    <a:pt x="150635" y="0"/>
                  </a:moveTo>
                  <a:lnTo>
                    <a:pt x="150635" y="0"/>
                  </a:lnTo>
                  <a:cubicBezTo>
                    <a:pt x="190586" y="0"/>
                    <a:pt x="228901" y="15870"/>
                    <a:pt x="257150" y="44120"/>
                  </a:cubicBezTo>
                  <a:cubicBezTo>
                    <a:pt x="285400" y="72370"/>
                    <a:pt x="301270" y="110684"/>
                    <a:pt x="301270" y="150635"/>
                  </a:cubicBezTo>
                  <a:lnTo>
                    <a:pt x="301270" y="481950"/>
                  </a:lnTo>
                  <a:cubicBezTo>
                    <a:pt x="301270" y="521901"/>
                    <a:pt x="285400" y="560215"/>
                    <a:pt x="257150" y="588465"/>
                  </a:cubicBezTo>
                  <a:cubicBezTo>
                    <a:pt x="228901" y="616714"/>
                    <a:pt x="190586" y="632585"/>
                    <a:pt x="150635" y="632585"/>
                  </a:cubicBezTo>
                  <a:lnTo>
                    <a:pt x="150635" y="632585"/>
                  </a:lnTo>
                  <a:cubicBezTo>
                    <a:pt x="110684" y="632585"/>
                    <a:pt x="72370" y="616714"/>
                    <a:pt x="44120" y="588465"/>
                  </a:cubicBezTo>
                  <a:cubicBezTo>
                    <a:pt x="15870" y="560215"/>
                    <a:pt x="0" y="521901"/>
                    <a:pt x="0" y="481950"/>
                  </a:cubicBezTo>
                  <a:lnTo>
                    <a:pt x="0" y="150635"/>
                  </a:lnTo>
                  <a:cubicBezTo>
                    <a:pt x="0" y="110684"/>
                    <a:pt x="15870" y="72370"/>
                    <a:pt x="44120" y="44120"/>
                  </a:cubicBezTo>
                  <a:cubicBezTo>
                    <a:pt x="72370" y="15870"/>
                    <a:pt x="110684" y="0"/>
                    <a:pt x="150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301270" cy="689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94311" y="634741"/>
            <a:ext cx="642328" cy="590942"/>
          </a:xfrm>
          <a:custGeom>
            <a:avLst/>
            <a:gdLst/>
            <a:ahLst/>
            <a:cxnLst/>
            <a:rect l="l" t="t" r="r" b="b"/>
            <a:pathLst>
              <a:path w="642328" h="590942">
                <a:moveTo>
                  <a:pt x="0" y="0"/>
                </a:moveTo>
                <a:lnTo>
                  <a:pt x="642328" y="0"/>
                </a:lnTo>
                <a:lnTo>
                  <a:pt x="642328" y="590942"/>
                </a:lnTo>
                <a:lnTo>
                  <a:pt x="0" y="590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1575246" y="1225683"/>
            <a:ext cx="6143554" cy="8592383"/>
          </a:xfrm>
          <a:custGeom>
            <a:avLst/>
            <a:gdLst/>
            <a:ahLst/>
            <a:cxnLst/>
            <a:rect l="l" t="t" r="r" b="b"/>
            <a:pathLst>
              <a:path w="6143554" h="8592383">
                <a:moveTo>
                  <a:pt x="0" y="0"/>
                </a:moveTo>
                <a:lnTo>
                  <a:pt x="6143554" y="0"/>
                </a:lnTo>
                <a:lnTo>
                  <a:pt x="6143554" y="8592384"/>
                </a:lnTo>
                <a:lnTo>
                  <a:pt x="0" y="85923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 rot="430483">
            <a:off x="13376723" y="5325877"/>
            <a:ext cx="3108540" cy="2999742"/>
          </a:xfrm>
          <a:custGeom>
            <a:avLst/>
            <a:gdLst/>
            <a:ahLst/>
            <a:cxnLst/>
            <a:rect l="l" t="t" r="r" b="b"/>
            <a:pathLst>
              <a:path w="3108540" h="2999742">
                <a:moveTo>
                  <a:pt x="0" y="0"/>
                </a:moveTo>
                <a:lnTo>
                  <a:pt x="3108541" y="0"/>
                </a:lnTo>
                <a:lnTo>
                  <a:pt x="3108541" y="2999742"/>
                </a:lnTo>
                <a:lnTo>
                  <a:pt x="0" y="29997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1336639" y="2761596"/>
            <a:ext cx="9464394" cy="6267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999" b="1">
                <a:solidFill>
                  <a:srgbClr val="545454"/>
                </a:solidFill>
                <a:latin typeface="Inter Bold"/>
                <a:ea typeface="Inter Bold"/>
                <a:cs typeface="Inter Bold"/>
                <a:sym typeface="Inter Bold"/>
              </a:rPr>
              <a:t>Económico</a:t>
            </a: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: Incrementa el margen de ganancia del campesino al eliminar las pérdidas por asimetría de información frente a intermediarios locales.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545454"/>
                </a:solidFill>
                <a:latin typeface="Inter Bold"/>
                <a:ea typeface="Inter Bold"/>
                <a:cs typeface="Inter Bold"/>
                <a:sym typeface="Inter Bold"/>
              </a:rPr>
              <a:t>Productivo</a:t>
            </a: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: Reduce las pérdidas de grano mediante alertas tempranas basadas en datos históricos del municipio, permitiendo tomar decisiones preventivas.</a:t>
            </a:r>
          </a:p>
          <a:p>
            <a:pPr algn="l">
              <a:lnSpc>
                <a:spcPts val="4199"/>
              </a:lnSpc>
            </a:pPr>
            <a:endParaRPr lang="en-US" sz="2999">
              <a:solidFill>
                <a:srgbClr val="545454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4199"/>
              </a:lnSpc>
            </a:pPr>
            <a:r>
              <a:rPr lang="en-US" sz="2999" b="1">
                <a:solidFill>
                  <a:srgbClr val="545454"/>
                </a:solidFill>
                <a:latin typeface="Inter Bold"/>
                <a:ea typeface="Inter Bold"/>
                <a:cs typeface="Inter Bold"/>
                <a:sym typeface="Inter Bold"/>
              </a:rPr>
              <a:t>Digital:</a:t>
            </a: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 Cierra la brecha tecnológica rural traduciendo datos estatales crudos en gráficos, PDF descargables y mensajes de texto interactivos.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22729" y="758762"/>
            <a:ext cx="8760043" cy="115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>
                <a:solidFill>
                  <a:srgbClr val="006837"/>
                </a:solidFill>
                <a:latin typeface="Mont Bold"/>
                <a:ea typeface="Mont Bold"/>
                <a:cs typeface="Mont Bold"/>
                <a:sym typeface="Mont Bold"/>
              </a:rPr>
              <a:t>Impacto esperado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660421" y="390285"/>
            <a:ext cx="576868" cy="43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399578" y="-1176161"/>
            <a:ext cx="1143885" cy="2401845"/>
            <a:chOff x="0" y="0"/>
            <a:chExt cx="301270" cy="6325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270" cy="632585"/>
            </a:xfrm>
            <a:custGeom>
              <a:avLst/>
              <a:gdLst/>
              <a:ahLst/>
              <a:cxnLst/>
              <a:rect l="l" t="t" r="r" b="b"/>
              <a:pathLst>
                <a:path w="301270" h="632585">
                  <a:moveTo>
                    <a:pt x="150635" y="0"/>
                  </a:moveTo>
                  <a:lnTo>
                    <a:pt x="150635" y="0"/>
                  </a:lnTo>
                  <a:cubicBezTo>
                    <a:pt x="190586" y="0"/>
                    <a:pt x="228901" y="15870"/>
                    <a:pt x="257150" y="44120"/>
                  </a:cubicBezTo>
                  <a:cubicBezTo>
                    <a:pt x="285400" y="72370"/>
                    <a:pt x="301270" y="110684"/>
                    <a:pt x="301270" y="150635"/>
                  </a:cubicBezTo>
                  <a:lnTo>
                    <a:pt x="301270" y="481950"/>
                  </a:lnTo>
                  <a:cubicBezTo>
                    <a:pt x="301270" y="521901"/>
                    <a:pt x="285400" y="560215"/>
                    <a:pt x="257150" y="588465"/>
                  </a:cubicBezTo>
                  <a:cubicBezTo>
                    <a:pt x="228901" y="616714"/>
                    <a:pt x="190586" y="632585"/>
                    <a:pt x="150635" y="632585"/>
                  </a:cubicBezTo>
                  <a:lnTo>
                    <a:pt x="150635" y="632585"/>
                  </a:lnTo>
                  <a:cubicBezTo>
                    <a:pt x="110684" y="632585"/>
                    <a:pt x="72370" y="616714"/>
                    <a:pt x="44120" y="588465"/>
                  </a:cubicBezTo>
                  <a:cubicBezTo>
                    <a:pt x="15870" y="560215"/>
                    <a:pt x="0" y="521901"/>
                    <a:pt x="0" y="481950"/>
                  </a:cubicBezTo>
                  <a:lnTo>
                    <a:pt x="0" y="150635"/>
                  </a:lnTo>
                  <a:cubicBezTo>
                    <a:pt x="0" y="110684"/>
                    <a:pt x="15870" y="72370"/>
                    <a:pt x="44120" y="44120"/>
                  </a:cubicBezTo>
                  <a:cubicBezTo>
                    <a:pt x="72370" y="15870"/>
                    <a:pt x="110684" y="0"/>
                    <a:pt x="150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301270" cy="689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694311" y="634741"/>
            <a:ext cx="642328" cy="590942"/>
          </a:xfrm>
          <a:custGeom>
            <a:avLst/>
            <a:gdLst/>
            <a:ahLst/>
            <a:cxnLst/>
            <a:rect l="l" t="t" r="r" b="b"/>
            <a:pathLst>
              <a:path w="642328" h="590942">
                <a:moveTo>
                  <a:pt x="0" y="0"/>
                </a:moveTo>
                <a:lnTo>
                  <a:pt x="642328" y="0"/>
                </a:lnTo>
                <a:lnTo>
                  <a:pt x="642328" y="590942"/>
                </a:lnTo>
                <a:lnTo>
                  <a:pt x="0" y="590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Freeform 6"/>
          <p:cNvSpPr/>
          <p:nvPr/>
        </p:nvSpPr>
        <p:spPr>
          <a:xfrm>
            <a:off x="2326960" y="3895684"/>
            <a:ext cx="7855508" cy="6872141"/>
          </a:xfrm>
          <a:custGeom>
            <a:avLst/>
            <a:gdLst/>
            <a:ahLst/>
            <a:cxnLst/>
            <a:rect l="l" t="t" r="r" b="b"/>
            <a:pathLst>
              <a:path w="7855508" h="6872141">
                <a:moveTo>
                  <a:pt x="0" y="0"/>
                </a:moveTo>
                <a:lnTo>
                  <a:pt x="7855509" y="0"/>
                </a:lnTo>
                <a:lnTo>
                  <a:pt x="7855509" y="6872141"/>
                </a:lnTo>
                <a:lnTo>
                  <a:pt x="0" y="6872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8497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>
            <a:off x="-1132581" y="-352893"/>
            <a:ext cx="8161346" cy="7139694"/>
          </a:xfrm>
          <a:custGeom>
            <a:avLst/>
            <a:gdLst/>
            <a:ahLst/>
            <a:cxnLst/>
            <a:rect l="l" t="t" r="r" b="b"/>
            <a:pathLst>
              <a:path w="8161346" h="7139694">
                <a:moveTo>
                  <a:pt x="0" y="0"/>
                </a:moveTo>
                <a:lnTo>
                  <a:pt x="8161347" y="0"/>
                </a:lnTo>
                <a:lnTo>
                  <a:pt x="8161347" y="7139693"/>
                </a:lnTo>
                <a:lnTo>
                  <a:pt x="0" y="7139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8497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8079069" y="3159803"/>
            <a:ext cx="9464394" cy="417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99"/>
              </a:lnSpc>
            </a:pPr>
            <a:r>
              <a:rPr lang="en-US" sz="2999" b="1">
                <a:solidFill>
                  <a:srgbClr val="545454"/>
                </a:solidFill>
                <a:latin typeface="Inter Bold"/>
                <a:ea typeface="Inter Bold"/>
                <a:cs typeface="Inter Bold"/>
                <a:sym typeface="Inter Bold"/>
              </a:rPr>
              <a:t>Directos: </a:t>
            </a: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Más de 54.000 familias caficultoras minifundistas en Nariño (con fincas menores a 2 hectáreas) que carecen de asistencia técnica constante.</a:t>
            </a:r>
          </a:p>
          <a:p>
            <a:pPr algn="r">
              <a:lnSpc>
                <a:spcPts val="4199"/>
              </a:lnSpc>
            </a:pPr>
            <a:r>
              <a:rPr lang="en-US" sz="2999" b="1">
                <a:solidFill>
                  <a:srgbClr val="545454"/>
                </a:solidFill>
                <a:latin typeface="Inter Bold"/>
                <a:ea typeface="Inter Bold"/>
                <a:cs typeface="Inter Bold"/>
                <a:sym typeface="Inter Bold"/>
              </a:rPr>
              <a:t> Indirectos:</a:t>
            </a:r>
            <a:r>
              <a:rPr lang="en-US" sz="2999">
                <a:solidFill>
                  <a:srgbClr val="545454"/>
                </a:solidFill>
                <a:latin typeface="Inter"/>
                <a:ea typeface="Inter"/>
                <a:cs typeface="Inter"/>
                <a:sym typeface="Inter"/>
              </a:rPr>
              <a:t> Cooperativas de caficultores, asociaciones locales de productores de cafés especiales, recolectores de la región y la economía rural del departamento.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69653" y="1173696"/>
            <a:ext cx="8760043" cy="1158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>
                <a:solidFill>
                  <a:srgbClr val="006837"/>
                </a:solidFill>
                <a:latin typeface="Mont Bold"/>
                <a:ea typeface="Mont Bold"/>
                <a:cs typeface="Mont Bold"/>
                <a:sym typeface="Mont Bold"/>
              </a:rPr>
              <a:t>Beneficiarios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660421" y="390285"/>
            <a:ext cx="576868" cy="43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>
            <a:extLst>
              <a:ext uri="{FF2B5EF4-FFF2-40B4-BE49-F238E27FC236}">
                <a16:creationId xmlns:a16="http://schemas.microsoft.com/office/drawing/2014/main" id="{FD455B54-C783-0D27-66F8-3EF79A6D0355}"/>
              </a:ext>
            </a:extLst>
          </p:cNvPr>
          <p:cNvGrpSpPr/>
          <p:nvPr/>
        </p:nvGrpSpPr>
        <p:grpSpPr>
          <a:xfrm>
            <a:off x="0" y="9410700"/>
            <a:ext cx="18288000" cy="926192"/>
            <a:chOff x="0" y="0"/>
            <a:chExt cx="2747166" cy="1159587"/>
          </a:xfrm>
        </p:grpSpPr>
        <p:sp>
          <p:nvSpPr>
            <p:cNvPr id="3" name="Freeform 4">
              <a:extLst>
                <a:ext uri="{FF2B5EF4-FFF2-40B4-BE49-F238E27FC236}">
                  <a16:creationId xmlns:a16="http://schemas.microsoft.com/office/drawing/2014/main" id="{7F76517F-886C-9B5E-519F-DD1ABDA8D0BA}"/>
                </a:ext>
              </a:extLst>
            </p:cNvPr>
            <p:cNvSpPr/>
            <p:nvPr/>
          </p:nvSpPr>
          <p:spPr>
            <a:xfrm>
              <a:off x="0" y="0"/>
              <a:ext cx="2747166" cy="1159587"/>
            </a:xfrm>
            <a:custGeom>
              <a:avLst/>
              <a:gdLst/>
              <a:ahLst/>
              <a:cxnLst/>
              <a:rect l="l" t="t" r="r" b="b"/>
              <a:pathLst>
                <a:path w="2747166" h="1159587">
                  <a:moveTo>
                    <a:pt x="50472" y="0"/>
                  </a:moveTo>
                  <a:lnTo>
                    <a:pt x="2696695" y="0"/>
                  </a:lnTo>
                  <a:cubicBezTo>
                    <a:pt x="2710081" y="0"/>
                    <a:pt x="2722918" y="5318"/>
                    <a:pt x="2732383" y="14783"/>
                  </a:cubicBezTo>
                  <a:cubicBezTo>
                    <a:pt x="2741849" y="24248"/>
                    <a:pt x="2747166" y="37086"/>
                    <a:pt x="2747166" y="50472"/>
                  </a:cubicBezTo>
                  <a:lnTo>
                    <a:pt x="2747166" y="1109116"/>
                  </a:lnTo>
                  <a:cubicBezTo>
                    <a:pt x="2747166" y="1122502"/>
                    <a:pt x="2741849" y="1135339"/>
                    <a:pt x="2732383" y="1144805"/>
                  </a:cubicBezTo>
                  <a:cubicBezTo>
                    <a:pt x="2722918" y="1154270"/>
                    <a:pt x="2710081" y="1159587"/>
                    <a:pt x="2696695" y="1159587"/>
                  </a:cubicBezTo>
                  <a:lnTo>
                    <a:pt x="50472" y="1159587"/>
                  </a:lnTo>
                  <a:cubicBezTo>
                    <a:pt x="37086" y="1159587"/>
                    <a:pt x="24248" y="1154270"/>
                    <a:pt x="14783" y="1144805"/>
                  </a:cubicBezTo>
                  <a:cubicBezTo>
                    <a:pt x="5318" y="1135339"/>
                    <a:pt x="0" y="1122502"/>
                    <a:pt x="0" y="1109116"/>
                  </a:cubicBezTo>
                  <a:lnTo>
                    <a:pt x="0" y="50472"/>
                  </a:lnTo>
                  <a:cubicBezTo>
                    <a:pt x="0" y="37086"/>
                    <a:pt x="5318" y="24248"/>
                    <a:pt x="14783" y="14783"/>
                  </a:cubicBezTo>
                  <a:cubicBezTo>
                    <a:pt x="24248" y="5318"/>
                    <a:pt x="37086" y="0"/>
                    <a:pt x="504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5">
              <a:extLst>
                <a:ext uri="{FF2B5EF4-FFF2-40B4-BE49-F238E27FC236}">
                  <a16:creationId xmlns:a16="http://schemas.microsoft.com/office/drawing/2014/main" id="{000584A0-0B73-A746-FF8C-41BC20D0A30D}"/>
                </a:ext>
              </a:extLst>
            </p:cNvPr>
            <p:cNvSpPr txBox="1"/>
            <p:nvPr/>
          </p:nvSpPr>
          <p:spPr>
            <a:xfrm>
              <a:off x="0" y="-57150"/>
              <a:ext cx="2747166" cy="12167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pic>
        <p:nvPicPr>
          <p:cNvPr id="6" name="Imagen 5">
            <a:extLst>
              <a:ext uri="{FF2B5EF4-FFF2-40B4-BE49-F238E27FC236}">
                <a16:creationId xmlns:a16="http://schemas.microsoft.com/office/drawing/2014/main" id="{258E0624-BE82-B704-7591-C2E28FBAB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8288000" cy="962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48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036332"/>
            <a:ext cx="18288000" cy="4250668"/>
            <a:chOff x="0" y="0"/>
            <a:chExt cx="4816593" cy="11195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119518"/>
            </a:xfrm>
            <a:custGeom>
              <a:avLst/>
              <a:gdLst/>
              <a:ahLst/>
              <a:cxnLst/>
              <a:rect l="l" t="t" r="r" b="b"/>
              <a:pathLst>
                <a:path w="4816592" h="1119518">
                  <a:moveTo>
                    <a:pt x="0" y="0"/>
                  </a:moveTo>
                  <a:lnTo>
                    <a:pt x="4816592" y="0"/>
                  </a:lnTo>
                  <a:lnTo>
                    <a:pt x="4816592" y="1119518"/>
                  </a:lnTo>
                  <a:lnTo>
                    <a:pt x="0" y="1119518"/>
                  </a:ln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0"/>
                  </a:srgbClr>
                </a:gs>
                <a:gs pos="100000">
                  <a:srgbClr val="8DC63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11766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833180"/>
            <a:ext cx="642328" cy="590942"/>
          </a:xfrm>
          <a:custGeom>
            <a:avLst/>
            <a:gdLst/>
            <a:ahLst/>
            <a:cxnLst/>
            <a:rect l="l" t="t" r="r" b="b"/>
            <a:pathLst>
              <a:path w="642328" h="590942">
                <a:moveTo>
                  <a:pt x="0" y="0"/>
                </a:moveTo>
                <a:lnTo>
                  <a:pt x="642328" y="0"/>
                </a:lnTo>
                <a:lnTo>
                  <a:pt x="642328" y="590942"/>
                </a:lnTo>
                <a:lnTo>
                  <a:pt x="0" y="5909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/>
          <p:cNvGrpSpPr/>
          <p:nvPr/>
        </p:nvGrpSpPr>
        <p:grpSpPr>
          <a:xfrm>
            <a:off x="16399578" y="-1176161"/>
            <a:ext cx="1143885" cy="2401845"/>
            <a:chOff x="0" y="0"/>
            <a:chExt cx="301270" cy="63258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1270" cy="632585"/>
            </a:xfrm>
            <a:custGeom>
              <a:avLst/>
              <a:gdLst/>
              <a:ahLst/>
              <a:cxnLst/>
              <a:rect l="l" t="t" r="r" b="b"/>
              <a:pathLst>
                <a:path w="301270" h="632585">
                  <a:moveTo>
                    <a:pt x="150635" y="0"/>
                  </a:moveTo>
                  <a:lnTo>
                    <a:pt x="150635" y="0"/>
                  </a:lnTo>
                  <a:cubicBezTo>
                    <a:pt x="190586" y="0"/>
                    <a:pt x="228901" y="15870"/>
                    <a:pt x="257150" y="44120"/>
                  </a:cubicBezTo>
                  <a:cubicBezTo>
                    <a:pt x="285400" y="72370"/>
                    <a:pt x="301270" y="110684"/>
                    <a:pt x="301270" y="150635"/>
                  </a:cubicBezTo>
                  <a:lnTo>
                    <a:pt x="301270" y="481950"/>
                  </a:lnTo>
                  <a:cubicBezTo>
                    <a:pt x="301270" y="521901"/>
                    <a:pt x="285400" y="560215"/>
                    <a:pt x="257150" y="588465"/>
                  </a:cubicBezTo>
                  <a:cubicBezTo>
                    <a:pt x="228901" y="616714"/>
                    <a:pt x="190586" y="632585"/>
                    <a:pt x="150635" y="632585"/>
                  </a:cubicBezTo>
                  <a:lnTo>
                    <a:pt x="150635" y="632585"/>
                  </a:lnTo>
                  <a:cubicBezTo>
                    <a:pt x="110684" y="632585"/>
                    <a:pt x="72370" y="616714"/>
                    <a:pt x="44120" y="588465"/>
                  </a:cubicBezTo>
                  <a:cubicBezTo>
                    <a:pt x="15870" y="560215"/>
                    <a:pt x="0" y="521901"/>
                    <a:pt x="0" y="481950"/>
                  </a:cubicBezTo>
                  <a:lnTo>
                    <a:pt x="0" y="150635"/>
                  </a:lnTo>
                  <a:cubicBezTo>
                    <a:pt x="0" y="110684"/>
                    <a:pt x="15870" y="72370"/>
                    <a:pt x="44120" y="44120"/>
                  </a:cubicBezTo>
                  <a:cubicBezTo>
                    <a:pt x="72370" y="15870"/>
                    <a:pt x="110684" y="0"/>
                    <a:pt x="1506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DC63F">
                    <a:alpha val="100000"/>
                  </a:srgbClr>
                </a:gs>
                <a:gs pos="100000">
                  <a:srgbClr val="006F31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01270" cy="689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4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24761"/>
            <a:ext cx="19623625" cy="12264766"/>
          </a:xfrm>
          <a:custGeom>
            <a:avLst/>
            <a:gdLst/>
            <a:ahLst/>
            <a:cxnLst/>
            <a:rect l="l" t="t" r="r" b="b"/>
            <a:pathLst>
              <a:path w="19623625" h="12264766">
                <a:moveTo>
                  <a:pt x="0" y="0"/>
                </a:moveTo>
                <a:lnTo>
                  <a:pt x="19623625" y="0"/>
                </a:lnTo>
                <a:lnTo>
                  <a:pt x="19623625" y="12264766"/>
                </a:lnTo>
                <a:lnTo>
                  <a:pt x="0" y="122647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1811949" y="805146"/>
            <a:ext cx="1686862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Agricultura y Desarrollo Rural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660421" y="390285"/>
            <a:ext cx="576868" cy="43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9"/>
              </a:lnSpc>
            </a:pPr>
            <a:r>
              <a:rPr lang="en-US" sz="2499" b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29200" y="2913629"/>
            <a:ext cx="15374157" cy="219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047"/>
              </a:lnSpc>
            </a:pPr>
            <a:r>
              <a:rPr lang="en-US" sz="9600" b="1" dirty="0" err="1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AgroIA</a:t>
            </a:r>
            <a:r>
              <a:rPr lang="en-US" sz="9600" b="1" dirty="0">
                <a:solidFill>
                  <a:srgbClr val="FFFFFF"/>
                </a:solidFill>
                <a:latin typeface="Mont Bold"/>
                <a:ea typeface="Mont Bold"/>
                <a:cs typeface="Mont Bold"/>
                <a:sym typeface="Mont Bold"/>
              </a:rPr>
              <a:t>-Nariño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2662</TotalTime>
  <Words>592</Words>
  <Application>Microsoft Office PowerPoint</Application>
  <PresentationFormat>Personalizado</PresentationFormat>
  <Paragraphs>55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Mont Bold</vt:lpstr>
      <vt:lpstr>Inter</vt:lpstr>
      <vt:lpstr>Arial</vt:lpstr>
      <vt:lpstr>Inter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Agriculture Agrifarm Company Profile Presentation</dc:title>
  <cp:lastModifiedBy>YORDY ANYERSON ANDRADE RODRIGUEZ</cp:lastModifiedBy>
  <cp:revision>4</cp:revision>
  <dcterms:created xsi:type="dcterms:W3CDTF">2006-08-16T00:00:00Z</dcterms:created>
  <dcterms:modified xsi:type="dcterms:W3CDTF">2026-07-23T18:34:49Z</dcterms:modified>
  <dc:identifier>DAHQCX8TiCE</dc:identifier>
</cp:coreProperties>
</file>